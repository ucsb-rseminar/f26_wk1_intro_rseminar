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sldIdLst>
    <p:sldId id="256" r:id="rId2"/>
    <p:sldId id="259" r:id="rId3"/>
    <p:sldId id="258" r:id="rId4"/>
    <p:sldId id="266" r:id="rId5"/>
    <p:sldId id="265" r:id="rId6"/>
    <p:sldId id="263" r:id="rId7"/>
    <p:sldId id="274" r:id="rId8"/>
    <p:sldId id="260" r:id="rId9"/>
    <p:sldId id="262" r:id="rId10"/>
    <p:sldId id="269" r:id="rId11"/>
    <p:sldId id="267" r:id="rId12"/>
    <p:sldId id="270" r:id="rId13"/>
    <p:sldId id="273" r:id="rId14"/>
    <p:sldId id="271" r:id="rId15"/>
    <p:sldId id="272" r:id="rId16"/>
    <p:sldId id="268" r:id="rId17"/>
    <p:sldId id="264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0"/>
    <p:restoredTop sz="94688"/>
  </p:normalViewPr>
  <p:slideViewPr>
    <p:cSldViewPr snapToGrid="0" snapToObjects="1">
      <p:cViewPr varScale="1">
        <p:scale>
          <a:sx n="144" d="100"/>
          <a:sy n="144" d="100"/>
        </p:scale>
        <p:origin x="242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32C8-69A7-458B-9684-2BFA64B31948}" type="datetime2">
              <a:rPr lang="en-US" smtClean="0"/>
              <a:t>Wednesday, October 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Wednesday, October 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3D019-A32C-4EAD-B8E6-DBDA699692FD}" type="datetime2">
              <a:rPr lang="en-US" smtClean="0"/>
              <a:t>Wednesday, October 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Wednesday, October 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Wednesday, October 7,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Wednesday, October 7,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Wednesday, October 7,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Wednesday, October 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Wednesday, October 7,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Wednesday, October 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Wednesday, October 7,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Wednesday, October 7,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anderegg@ucs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pagreen@ucsb.edu" TargetMode="External"/><Relationship Id="rId2" Type="http://schemas.openxmlformats.org/officeDocument/2006/relationships/hyperlink" Target="mailto:landeregg@ucsb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CSB-RSeminar" TargetMode="External"/><Relationship Id="rId2" Type="http://schemas.openxmlformats.org/officeDocument/2006/relationships/hyperlink" Target="https://docs.google.com/spreadsheets/d/1KVy5sDUts8ZbA43a6mORx8WoYPln6zxAxpIcuUJFJpE/edit?usp=shar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oogle.com/url?q=https://ucsb.zoom.us/j/85337845501&amp;sa=D&amp;source=calendar&amp;ust=1673458462691081&amp;usg=AOvVaw276ZpRUKO57eP4LvOj2y-o" TargetMode="External"/><Relationship Id="rId4" Type="http://schemas.openxmlformats.org/officeDocument/2006/relationships/hyperlink" Target="mailto:landeregg@ucsb.edu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rfortherestofus.com/2021/02/how-to-use-git-github-with-r/" TargetMode="External"/><Relationship Id="rId2" Type="http://schemas.openxmlformats.org/officeDocument/2006/relationships/hyperlink" Target="https://cfss.uchicago.edu/setup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R-Seminar FALL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199"/>
            <a:ext cx="6866906" cy="2391103"/>
          </a:xfrm>
        </p:spPr>
        <p:txBody>
          <a:bodyPr>
            <a:normAutofit/>
          </a:bodyPr>
          <a:lstStyle/>
          <a:p>
            <a:r>
              <a:rPr lang="en-US" dirty="0"/>
              <a:t>EEMB 595R/194R</a:t>
            </a:r>
          </a:p>
          <a:p>
            <a:r>
              <a:rPr lang="en-US" dirty="0"/>
              <a:t>2026</a:t>
            </a:r>
          </a:p>
          <a:p>
            <a:endParaRPr lang="en-US" dirty="0"/>
          </a:p>
          <a:p>
            <a:r>
              <a:rPr lang="en-US" dirty="0"/>
              <a:t>Wed @ 1:00 pm – Noble 1231</a:t>
            </a:r>
          </a:p>
          <a:p>
            <a:r>
              <a:rPr lang="en-US" dirty="0"/>
              <a:t>Leander Anderegg      </a:t>
            </a:r>
            <a:r>
              <a:rPr lang="en-US" dirty="0">
                <a:hlinkClick r:id="rId2"/>
              </a:rPr>
              <a:t>landeregg@ucsb.edu</a:t>
            </a:r>
            <a:r>
              <a:rPr lang="en-US" dirty="0"/>
              <a:t> 	</a:t>
            </a:r>
          </a:p>
        </p:txBody>
      </p:sp>
    </p:spTree>
    <p:extLst>
      <p:ext uri="{BB962C8B-B14F-4D97-AF65-F5344CB8AC3E}">
        <p14:creationId xmlns:p14="http://schemas.microsoft.com/office/powerpoint/2010/main" val="1294276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Us: </a:t>
            </a:r>
          </a:p>
          <a:p>
            <a:pPr lvl="1"/>
            <a:r>
              <a:rPr lang="en-US" dirty="0"/>
              <a:t>Lee Anderegg – </a:t>
            </a:r>
            <a:r>
              <a:rPr lang="en-US" dirty="0">
                <a:hlinkClick r:id="rId2"/>
              </a:rPr>
              <a:t>landeregg@ucsb.edu</a:t>
            </a:r>
            <a:r>
              <a:rPr lang="en-US" dirty="0"/>
              <a:t>, </a:t>
            </a:r>
            <a:r>
              <a:rPr lang="en-US" dirty="0" err="1"/>
              <a:t>Github</a:t>
            </a:r>
            <a:r>
              <a:rPr lang="en-US" dirty="0"/>
              <a:t> @</a:t>
            </a:r>
            <a:r>
              <a:rPr lang="en-US" dirty="0" err="1"/>
              <a:t>leanderegg</a:t>
            </a:r>
            <a:endParaRPr lang="en-US" dirty="0"/>
          </a:p>
          <a:p>
            <a:pPr lvl="1"/>
            <a:r>
              <a:rPr lang="en-US" dirty="0"/>
              <a:t>Sebastian Escobar Alonso – </a:t>
            </a:r>
            <a:r>
              <a:rPr lang="en-US" dirty="0">
                <a:hlinkClick r:id="rId3"/>
              </a:rPr>
              <a:t>sescobaralonso@ucsb.edu</a:t>
            </a:r>
            <a:r>
              <a:rPr lang="en-US" dirty="0"/>
              <a:t>, @</a:t>
            </a:r>
            <a:r>
              <a:rPr lang="en-US" dirty="0" err="1"/>
              <a:t>sescobaralonso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316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R-Seminar?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481E9C-EE71-F64A-E399-5012EB211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Hour –</a:t>
            </a:r>
          </a:p>
          <a:p>
            <a:pPr lvl="1"/>
            <a:r>
              <a:rPr lang="en-US" dirty="0"/>
              <a:t>Tutorial about [insert your interests here]</a:t>
            </a:r>
          </a:p>
          <a:p>
            <a:pPr lvl="1"/>
            <a:r>
              <a:rPr lang="en-US" dirty="0"/>
              <a:t>”Favorite Function” presentations from 194R folks</a:t>
            </a:r>
          </a:p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Hour – </a:t>
            </a:r>
          </a:p>
          <a:p>
            <a:pPr lvl="1"/>
            <a:r>
              <a:rPr lang="en-US" dirty="0"/>
              <a:t>Code clinic</a:t>
            </a:r>
          </a:p>
        </p:txBody>
      </p:sp>
    </p:spTree>
    <p:extLst>
      <p:ext uri="{BB962C8B-B14F-4D97-AF65-F5344CB8AC3E}">
        <p14:creationId xmlns:p14="http://schemas.microsoft.com/office/powerpoint/2010/main" val="1411129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R-Seminar?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3412"/>
            <a:ext cx="8217647" cy="500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080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R-Seminar?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64" y="1757961"/>
            <a:ext cx="8045474" cy="452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40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Seminar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Keeping track of the Schedule </a:t>
            </a:r>
            <a:r>
              <a:rPr lang="en-US" dirty="0"/>
              <a:t>– </a:t>
            </a:r>
            <a:r>
              <a:rPr lang="en-US" dirty="0">
                <a:hlinkClick r:id="rId2"/>
              </a:rPr>
              <a:t>https://docs.google.com/spreadsheets/d/1KVy5sDUts8ZbA43a6mORx8WoYPln6zxAxpIcuUJFJpE/edit?usp=sharing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Sharing / Collaborating on Files </a:t>
            </a:r>
            <a:r>
              <a:rPr lang="en-US" dirty="0"/>
              <a:t>– GitHub Organization:</a:t>
            </a:r>
          </a:p>
          <a:p>
            <a:r>
              <a:rPr lang="en-US" dirty="0">
                <a:hlinkClick r:id="rId3"/>
              </a:rPr>
              <a:t>https://github.com/UCSB-RSeminar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Listserv </a:t>
            </a:r>
            <a:r>
              <a:rPr lang="en-US" dirty="0"/>
              <a:t>– </a:t>
            </a:r>
            <a:r>
              <a:rPr lang="en-US" dirty="0" err="1"/>
              <a:t>rstats@eemb.ucsb.edu</a:t>
            </a:r>
            <a:endParaRPr lang="en-US" dirty="0"/>
          </a:p>
          <a:p>
            <a:r>
              <a:rPr lang="en-US" dirty="0"/>
              <a:t>Subscribe: (anyone know if people can auto-subscribe to Google Groups???)</a:t>
            </a:r>
          </a:p>
          <a:p>
            <a:pPr lvl="1"/>
            <a:r>
              <a:rPr lang="en-US" dirty="0"/>
              <a:t>Sign up in the ‘email’ column of the schedule</a:t>
            </a:r>
          </a:p>
          <a:p>
            <a:pPr lvl="1"/>
            <a:r>
              <a:rPr lang="en-US" dirty="0"/>
              <a:t>Email </a:t>
            </a:r>
            <a:r>
              <a:rPr lang="en-US" dirty="0">
                <a:hlinkClick r:id="rId4"/>
              </a:rPr>
              <a:t>landeregg@ucsb.edu</a:t>
            </a:r>
            <a:r>
              <a:rPr lang="en-US" dirty="0"/>
              <a:t> and I’ll add you</a:t>
            </a:r>
          </a:p>
          <a:p>
            <a:endParaRPr lang="en-US" dirty="0"/>
          </a:p>
          <a:p>
            <a:r>
              <a:rPr lang="en-US" b="1" dirty="0" err="1"/>
              <a:t>Zoom:</a:t>
            </a:r>
            <a:r>
              <a:rPr lang="en-US" b="0" i="0" u="sng" dirty="0" err="1">
                <a:effectLst/>
                <a:latin typeface="Roboto" panose="02000000000000000000" pitchFamily="2" charset="0"/>
                <a:hlinkClick r:id="rId5"/>
              </a:rPr>
              <a:t>https</a:t>
            </a:r>
            <a:r>
              <a:rPr lang="en-US" b="0" i="0" u="sng" dirty="0">
                <a:effectLst/>
                <a:latin typeface="Roboto" panose="02000000000000000000" pitchFamily="2" charset="0"/>
                <a:hlinkClick r:id="rId5"/>
              </a:rPr>
              <a:t>://ucsb.zoom.us/j/85337845501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044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Seminar Logistics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If you're a grad enrolled in 595R, please sign up to lead (or assist with) a tutorial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If you're an undergrad enrolled in 194R, please sign up to either: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help a grad student with a tutorial (be an assistant tutorial lead)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present a 5 min ‘Favorite Function' section to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give a deep dive into a function (either your current fav/a great one you've recently discovered or one of the central functions from a prior tutorial that you wanted to know more about)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Share a coding tip or trick that makes your code more readable/transferable/robust or just something cool that makes your R life better. 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(NOTE: This is actually intended to be quick, really 5mins or less)</a:t>
            </a:r>
          </a:p>
        </p:txBody>
      </p:sp>
    </p:spTree>
    <p:extLst>
      <p:ext uri="{BB962C8B-B14F-4D97-AF65-F5344CB8AC3E}">
        <p14:creationId xmlns:p14="http://schemas.microsoft.com/office/powerpoint/2010/main" val="3293089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016"/>
            <a:ext cx="8229600" cy="990600"/>
          </a:xfrm>
        </p:spPr>
        <p:txBody>
          <a:bodyPr/>
          <a:lstStyle/>
          <a:p>
            <a:r>
              <a:rPr lang="en-US" dirty="0"/>
              <a:t>Topics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54118"/>
              </p:ext>
            </p:extLst>
          </p:nvPr>
        </p:nvGraphicFramePr>
        <p:xfrm>
          <a:off x="291745" y="1402401"/>
          <a:ext cx="859861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3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7879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 for Presenters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Move Slow</a:t>
            </a:r>
            <a:r>
              <a:rPr lang="en-US" dirty="0"/>
              <a:t>—You know your code, data and approach better than your audience.</a:t>
            </a:r>
          </a:p>
          <a:p>
            <a:endParaRPr lang="en-US" dirty="0"/>
          </a:p>
          <a:p>
            <a:r>
              <a:rPr lang="en-US" b="1" dirty="0"/>
              <a:t>Make it Interactive</a:t>
            </a:r>
            <a:r>
              <a:rPr lang="en-US" dirty="0"/>
              <a:t>—Include a simple exercise to give people a chance to play with the code.</a:t>
            </a:r>
          </a:p>
          <a:p>
            <a:endParaRPr lang="en-US" dirty="0"/>
          </a:p>
          <a:p>
            <a:r>
              <a:rPr lang="en-US" b="1" dirty="0"/>
              <a:t>Upload scripts and data at least 24hr in advance</a:t>
            </a:r>
            <a:r>
              <a:rPr lang="en-US" dirty="0"/>
              <a:t>—Allows folks to install packages, work out any platform-specific kinks.</a:t>
            </a:r>
          </a:p>
          <a:p>
            <a:endParaRPr lang="en-US" dirty="0"/>
          </a:p>
          <a:p>
            <a:r>
              <a:rPr lang="en-US" b="1" dirty="0"/>
              <a:t>Ground in Science</a:t>
            </a:r>
            <a:r>
              <a:rPr lang="en-US" dirty="0"/>
              <a:t>—We are scientists, not programmers.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50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 for Participants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Fork the repository in </a:t>
            </a:r>
            <a:r>
              <a:rPr lang="en-US" b="1" dirty="0" err="1"/>
              <a:t>GitHub</a:t>
            </a:r>
            <a:r>
              <a:rPr lang="en-US" b="1" dirty="0"/>
              <a:t>—</a:t>
            </a:r>
            <a:r>
              <a:rPr lang="en-US" dirty="0"/>
              <a:t>This way we won’t have to worry about folks changing the original version of the code.</a:t>
            </a:r>
          </a:p>
          <a:p>
            <a:endParaRPr lang="en-US" dirty="0"/>
          </a:p>
          <a:p>
            <a:r>
              <a:rPr lang="en-US" b="1" dirty="0"/>
              <a:t>Try the code before the seminar—</a:t>
            </a:r>
            <a:r>
              <a:rPr lang="en-US" dirty="0"/>
              <a:t>This will give you a chance to install packages and iron out any issues with file paths, etc.</a:t>
            </a:r>
          </a:p>
          <a:p>
            <a:endParaRPr lang="en-US" dirty="0"/>
          </a:p>
          <a:p>
            <a:r>
              <a:rPr lang="en-US" b="1" dirty="0"/>
              <a:t>Learn by doing</a:t>
            </a:r>
            <a:r>
              <a:rPr lang="en-US" dirty="0"/>
              <a:t>—Follow along with the presenter by running the code yourself.</a:t>
            </a:r>
          </a:p>
        </p:txBody>
      </p:sp>
    </p:spTree>
    <p:extLst>
      <p:ext uri="{BB962C8B-B14F-4D97-AF65-F5344CB8AC3E}">
        <p14:creationId xmlns:p14="http://schemas.microsoft.com/office/powerpoint/2010/main" val="2331957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Demo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064" y="1991924"/>
            <a:ext cx="3589733" cy="358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42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7" y="1604366"/>
            <a:ext cx="948368" cy="9483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59E08F-C957-D447-9094-63C1D6D2D51F}"/>
              </a:ext>
            </a:extLst>
          </p:cNvPr>
          <p:cNvSpPr txBox="1"/>
          <p:nvPr/>
        </p:nvSpPr>
        <p:spPr>
          <a:xfrm>
            <a:off x="510639" y="1235034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 repo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B195D8-FDA5-A545-AB19-8BEB340B1952}"/>
              </a:ext>
            </a:extLst>
          </p:cNvPr>
          <p:cNvCxnSpPr/>
          <p:nvPr/>
        </p:nvCxnSpPr>
        <p:spPr>
          <a:xfrm>
            <a:off x="1389413" y="2552734"/>
            <a:ext cx="629392" cy="8762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56CDBA-8A07-1445-B074-183974FB141B}"/>
              </a:ext>
            </a:extLst>
          </p:cNvPr>
          <p:cNvSpPr txBox="1"/>
          <p:nvPr/>
        </p:nvSpPr>
        <p:spPr>
          <a:xfrm>
            <a:off x="154379" y="3206338"/>
            <a:ext cx="16751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Clone to local machine </a:t>
            </a:r>
          </a:p>
          <a:p>
            <a:r>
              <a:rPr lang="en-US" dirty="0"/>
              <a:t>(or ‘pull’ most recent version)</a:t>
            </a:r>
          </a:p>
          <a:p>
            <a:endParaRPr lang="en-US" dirty="0"/>
          </a:p>
        </p:txBody>
      </p:sp>
      <p:pic>
        <p:nvPicPr>
          <p:cNvPr id="12" name="Graphic 11" descr="Internet with solid fill">
            <a:extLst>
              <a:ext uri="{FF2B5EF4-FFF2-40B4-BE49-F238E27FC236}">
                <a16:creationId xmlns:a16="http://schemas.microsoft.com/office/drawing/2014/main" id="{9FAD5296-222E-084F-87F8-5557B2C9A7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4825" y="3426031"/>
            <a:ext cx="914400" cy="9144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E60B99-7F21-0949-9DA6-8686D57205CE}"/>
              </a:ext>
            </a:extLst>
          </p:cNvPr>
          <p:cNvCxnSpPr>
            <a:cxnSpLocks/>
          </p:cNvCxnSpPr>
          <p:nvPr/>
        </p:nvCxnSpPr>
        <p:spPr>
          <a:xfrm flipV="1">
            <a:off x="3002478" y="3902298"/>
            <a:ext cx="104700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 descr="Internet with solid fill">
            <a:extLst>
              <a:ext uri="{FF2B5EF4-FFF2-40B4-BE49-F238E27FC236}">
                <a16:creationId xmlns:a16="http://schemas.microsoft.com/office/drawing/2014/main" id="{A4BB6F85-BD07-DA4A-9749-DE711945E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3865" y="3470587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3BE9E1A-72B8-7C43-BA70-4CBAC9DB79DA}"/>
              </a:ext>
            </a:extLst>
          </p:cNvPr>
          <p:cNvSpPr txBox="1"/>
          <p:nvPr/>
        </p:nvSpPr>
        <p:spPr>
          <a:xfrm>
            <a:off x="3040084" y="4286992"/>
            <a:ext cx="12706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Edit project, commit changes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3C9744-4378-C94E-8E26-D865CD746CAD}"/>
              </a:ext>
            </a:extLst>
          </p:cNvPr>
          <p:cNvSpPr txBox="1"/>
          <p:nvPr/>
        </p:nvSpPr>
        <p:spPr>
          <a:xfrm>
            <a:off x="5834996" y="3274185"/>
            <a:ext cx="12706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‘push’ commits to the main version in the cloud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B75715-0AA4-7C40-8CB4-F8D0BDFC53FD}"/>
              </a:ext>
            </a:extLst>
          </p:cNvPr>
          <p:cNvCxnSpPr>
            <a:cxnSpLocks/>
          </p:cNvCxnSpPr>
          <p:nvPr/>
        </p:nvCxnSpPr>
        <p:spPr>
          <a:xfrm flipV="1">
            <a:off x="5118265" y="2220686"/>
            <a:ext cx="748145" cy="16536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ECB46301-31F1-FF4F-80BD-6CFB30E22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108" y="1565346"/>
            <a:ext cx="948368" cy="94836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E33D812-20EC-F44E-B8B1-4941DD777B62}"/>
              </a:ext>
            </a:extLst>
          </p:cNvPr>
          <p:cNvSpPr txBox="1"/>
          <p:nvPr/>
        </p:nvSpPr>
        <p:spPr>
          <a:xfrm>
            <a:off x="3004457" y="323008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‘local’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DA7BF33-5BF0-3842-9B00-02D3014066E8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1760399" y="2039530"/>
            <a:ext cx="45157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D6C8FC3-3D86-3140-9B05-7E8C47EAE82A}"/>
              </a:ext>
            </a:extLst>
          </p:cNvPr>
          <p:cNvSpPr txBox="1"/>
          <p:nvPr/>
        </p:nvSpPr>
        <p:spPr>
          <a:xfrm>
            <a:off x="2850078" y="1626919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‘main’ branch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3E9EFC-D0F6-F147-B44C-29E97341B58D}"/>
              </a:ext>
            </a:extLst>
          </p:cNvPr>
          <p:cNvSpPr txBox="1"/>
          <p:nvPr/>
        </p:nvSpPr>
        <p:spPr>
          <a:xfrm>
            <a:off x="2838203" y="724395"/>
            <a:ext cx="3867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Your own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361194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7" y="1604366"/>
            <a:ext cx="948368" cy="9483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59E08F-C957-D447-9094-63C1D6D2D51F}"/>
              </a:ext>
            </a:extLst>
          </p:cNvPr>
          <p:cNvSpPr txBox="1"/>
          <p:nvPr/>
        </p:nvSpPr>
        <p:spPr>
          <a:xfrm>
            <a:off x="510639" y="1235034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 repo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B195D8-FDA5-A545-AB19-8BEB340B1952}"/>
              </a:ext>
            </a:extLst>
          </p:cNvPr>
          <p:cNvCxnSpPr/>
          <p:nvPr/>
        </p:nvCxnSpPr>
        <p:spPr>
          <a:xfrm>
            <a:off x="1389413" y="2552734"/>
            <a:ext cx="629392" cy="8762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56CDBA-8A07-1445-B074-183974FB141B}"/>
              </a:ext>
            </a:extLst>
          </p:cNvPr>
          <p:cNvSpPr txBox="1"/>
          <p:nvPr/>
        </p:nvSpPr>
        <p:spPr>
          <a:xfrm>
            <a:off x="154379" y="3206338"/>
            <a:ext cx="16751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Clone to local machine </a:t>
            </a:r>
          </a:p>
          <a:p>
            <a:r>
              <a:rPr lang="en-US" dirty="0"/>
              <a:t>(or ‘pull’ most recent version)</a:t>
            </a:r>
          </a:p>
          <a:p>
            <a:endParaRPr lang="en-US" dirty="0"/>
          </a:p>
        </p:txBody>
      </p:sp>
      <p:pic>
        <p:nvPicPr>
          <p:cNvPr id="12" name="Graphic 11" descr="Internet with solid fill">
            <a:extLst>
              <a:ext uri="{FF2B5EF4-FFF2-40B4-BE49-F238E27FC236}">
                <a16:creationId xmlns:a16="http://schemas.microsoft.com/office/drawing/2014/main" id="{9FAD5296-222E-084F-87F8-5557B2C9A7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4825" y="3426031"/>
            <a:ext cx="914400" cy="9144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E60B99-7F21-0949-9DA6-8686D57205CE}"/>
              </a:ext>
            </a:extLst>
          </p:cNvPr>
          <p:cNvCxnSpPr>
            <a:cxnSpLocks/>
          </p:cNvCxnSpPr>
          <p:nvPr/>
        </p:nvCxnSpPr>
        <p:spPr>
          <a:xfrm flipV="1">
            <a:off x="3002478" y="3902298"/>
            <a:ext cx="104700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 descr="Internet with solid fill">
            <a:extLst>
              <a:ext uri="{FF2B5EF4-FFF2-40B4-BE49-F238E27FC236}">
                <a16:creationId xmlns:a16="http://schemas.microsoft.com/office/drawing/2014/main" id="{A4BB6F85-BD07-DA4A-9749-DE711945E7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3865" y="3470587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3BE9E1A-72B8-7C43-BA70-4CBAC9DB79DA}"/>
              </a:ext>
            </a:extLst>
          </p:cNvPr>
          <p:cNvSpPr txBox="1"/>
          <p:nvPr/>
        </p:nvSpPr>
        <p:spPr>
          <a:xfrm>
            <a:off x="3040084" y="4286992"/>
            <a:ext cx="12706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Edit project, commit changes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3C9744-4378-C94E-8E26-D865CD746CAD}"/>
              </a:ext>
            </a:extLst>
          </p:cNvPr>
          <p:cNvSpPr txBox="1"/>
          <p:nvPr/>
        </p:nvSpPr>
        <p:spPr>
          <a:xfrm>
            <a:off x="5834996" y="3274185"/>
            <a:ext cx="12706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‘push’ commits to the main version in the cloud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B75715-0AA4-7C40-8CB4-F8D0BDFC53FD}"/>
              </a:ext>
            </a:extLst>
          </p:cNvPr>
          <p:cNvCxnSpPr>
            <a:cxnSpLocks/>
          </p:cNvCxnSpPr>
          <p:nvPr/>
        </p:nvCxnSpPr>
        <p:spPr>
          <a:xfrm flipV="1">
            <a:off x="5118265" y="2220686"/>
            <a:ext cx="748145" cy="16536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ECB46301-31F1-FF4F-80BD-6CFB30E22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108" y="1565346"/>
            <a:ext cx="948368" cy="94836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E33D812-20EC-F44E-B8B1-4941DD777B62}"/>
              </a:ext>
            </a:extLst>
          </p:cNvPr>
          <p:cNvSpPr txBox="1"/>
          <p:nvPr/>
        </p:nvSpPr>
        <p:spPr>
          <a:xfrm>
            <a:off x="3004457" y="323008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‘local’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DA7BF33-5BF0-3842-9B00-02D3014066E8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1760399" y="2039530"/>
            <a:ext cx="45157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D6C8FC3-3D86-3140-9B05-7E8C47EAE82A}"/>
              </a:ext>
            </a:extLst>
          </p:cNvPr>
          <p:cNvSpPr txBox="1"/>
          <p:nvPr/>
        </p:nvSpPr>
        <p:spPr>
          <a:xfrm>
            <a:off x="2850078" y="1626919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‘main’ branch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3E9EFC-D0F6-F147-B44C-29E97341B58D}"/>
              </a:ext>
            </a:extLst>
          </p:cNvPr>
          <p:cNvSpPr txBox="1"/>
          <p:nvPr/>
        </p:nvSpPr>
        <p:spPr>
          <a:xfrm>
            <a:off x="2838203" y="724395"/>
            <a:ext cx="3867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Your own version control</a:t>
            </a:r>
          </a:p>
        </p:txBody>
      </p:sp>
      <p:pic>
        <p:nvPicPr>
          <p:cNvPr id="3" name="Picture 2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AFBDD119-36AB-4240-8372-D6670BC300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62" y="2452288"/>
            <a:ext cx="9338853" cy="399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221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7" y="1604366"/>
            <a:ext cx="948368" cy="9483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59E08F-C957-D447-9094-63C1D6D2D51F}"/>
              </a:ext>
            </a:extLst>
          </p:cNvPr>
          <p:cNvSpPr txBox="1"/>
          <p:nvPr/>
        </p:nvSpPr>
        <p:spPr>
          <a:xfrm>
            <a:off x="510639" y="1235034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 repo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B195D8-FDA5-A545-AB19-8BEB340B1952}"/>
              </a:ext>
            </a:extLst>
          </p:cNvPr>
          <p:cNvCxnSpPr/>
          <p:nvPr/>
        </p:nvCxnSpPr>
        <p:spPr>
          <a:xfrm>
            <a:off x="1389413" y="2552734"/>
            <a:ext cx="629392" cy="8762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56CDBA-8A07-1445-B074-183974FB141B}"/>
              </a:ext>
            </a:extLst>
          </p:cNvPr>
          <p:cNvSpPr txBox="1"/>
          <p:nvPr/>
        </p:nvSpPr>
        <p:spPr>
          <a:xfrm>
            <a:off x="154379" y="3206338"/>
            <a:ext cx="16751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‘fork’ main branch to your </a:t>
            </a:r>
            <a:r>
              <a:rPr lang="en-US" dirty="0" err="1"/>
              <a:t>github</a:t>
            </a:r>
            <a:r>
              <a:rPr lang="en-US" dirty="0"/>
              <a:t> account</a:t>
            </a:r>
          </a:p>
          <a:p>
            <a:endParaRPr lang="en-US" dirty="0"/>
          </a:p>
        </p:txBody>
      </p:sp>
      <p:pic>
        <p:nvPicPr>
          <p:cNvPr id="12" name="Graphic 11" descr="Internet with solid fill">
            <a:extLst>
              <a:ext uri="{FF2B5EF4-FFF2-40B4-BE49-F238E27FC236}">
                <a16:creationId xmlns:a16="http://schemas.microsoft.com/office/drawing/2014/main" id="{9FAD5296-222E-084F-87F8-5557B2C9A7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2681" y="4914465"/>
            <a:ext cx="914400" cy="9144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E60B99-7F21-0949-9DA6-8686D57205CE}"/>
              </a:ext>
            </a:extLst>
          </p:cNvPr>
          <p:cNvCxnSpPr>
            <a:cxnSpLocks/>
          </p:cNvCxnSpPr>
          <p:nvPr/>
        </p:nvCxnSpPr>
        <p:spPr>
          <a:xfrm flipV="1">
            <a:off x="3002478" y="3902300"/>
            <a:ext cx="2410194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3BE9E1A-72B8-7C43-BA70-4CBAC9DB79DA}"/>
              </a:ext>
            </a:extLst>
          </p:cNvPr>
          <p:cNvSpPr txBox="1"/>
          <p:nvPr/>
        </p:nvSpPr>
        <p:spPr>
          <a:xfrm>
            <a:off x="1533847" y="4483857"/>
            <a:ext cx="1270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Clone/pull to local machine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3C9744-4378-C94E-8E26-D865CD746CAD}"/>
              </a:ext>
            </a:extLst>
          </p:cNvPr>
          <p:cNvSpPr txBox="1"/>
          <p:nvPr/>
        </p:nvSpPr>
        <p:spPr>
          <a:xfrm>
            <a:off x="5893243" y="4528138"/>
            <a:ext cx="12706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‘push’ commits to your branch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B75715-0AA4-7C40-8CB4-F8D0BDFC53FD}"/>
              </a:ext>
            </a:extLst>
          </p:cNvPr>
          <p:cNvCxnSpPr>
            <a:cxnSpLocks/>
          </p:cNvCxnSpPr>
          <p:nvPr/>
        </p:nvCxnSpPr>
        <p:spPr>
          <a:xfrm flipV="1">
            <a:off x="6056416" y="2190634"/>
            <a:ext cx="939808" cy="11683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ECB46301-31F1-FF4F-80BD-6CFB30E22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403" y="1604366"/>
            <a:ext cx="948368" cy="948368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DA7BF33-5BF0-3842-9B00-02D3014066E8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>
            <a:off x="1679885" y="2078550"/>
            <a:ext cx="560051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D6C8FC3-3D86-3140-9B05-7E8C47EAE82A}"/>
              </a:ext>
            </a:extLst>
          </p:cNvPr>
          <p:cNvSpPr txBox="1"/>
          <p:nvPr/>
        </p:nvSpPr>
        <p:spPr>
          <a:xfrm>
            <a:off x="2850078" y="1626919"/>
            <a:ext cx="1548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‘main’ branch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3E9EFC-D0F6-F147-B44C-29E97341B58D}"/>
              </a:ext>
            </a:extLst>
          </p:cNvPr>
          <p:cNvSpPr txBox="1"/>
          <p:nvPr/>
        </p:nvSpPr>
        <p:spPr>
          <a:xfrm>
            <a:off x="2838203" y="724395"/>
            <a:ext cx="21659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Collaborating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1C72F9B-4389-F94E-82B8-293CBF2451D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042117" y="3125236"/>
            <a:ext cx="948368" cy="948368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16FF56-46E5-D84C-87CF-0B97094FF7BF}"/>
              </a:ext>
            </a:extLst>
          </p:cNvPr>
          <p:cNvCxnSpPr/>
          <p:nvPr/>
        </p:nvCxnSpPr>
        <p:spPr>
          <a:xfrm>
            <a:off x="2653087" y="4045724"/>
            <a:ext cx="629392" cy="8762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16F72F-5232-2E4E-8E70-E5524E671361}"/>
              </a:ext>
            </a:extLst>
          </p:cNvPr>
          <p:cNvCxnSpPr>
            <a:cxnSpLocks/>
          </p:cNvCxnSpPr>
          <p:nvPr/>
        </p:nvCxnSpPr>
        <p:spPr>
          <a:xfrm flipV="1">
            <a:off x="3802794" y="5337269"/>
            <a:ext cx="104700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Internet with solid fill">
            <a:extLst>
              <a:ext uri="{FF2B5EF4-FFF2-40B4-BE49-F238E27FC236}">
                <a16:creationId xmlns:a16="http://schemas.microsoft.com/office/drawing/2014/main" id="{77FC8C8B-475C-7043-ABE2-F70E10AC1B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20887" y="4901935"/>
            <a:ext cx="914400" cy="914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C198B04-B84F-A949-8996-E7DAF8C469F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461381" y="3287322"/>
            <a:ext cx="948368" cy="94836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4DAD55C-6784-9C47-A9EA-8985D7BFF6E8}"/>
              </a:ext>
            </a:extLst>
          </p:cNvPr>
          <p:cNvSpPr txBox="1"/>
          <p:nvPr/>
        </p:nvSpPr>
        <p:spPr>
          <a:xfrm>
            <a:off x="3802794" y="5407187"/>
            <a:ext cx="12706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Edit project, commit changes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FBC44D2-FF0F-DE48-BB40-4E6AE0A781ED}"/>
              </a:ext>
            </a:extLst>
          </p:cNvPr>
          <p:cNvCxnSpPr>
            <a:cxnSpLocks/>
          </p:cNvCxnSpPr>
          <p:nvPr/>
        </p:nvCxnSpPr>
        <p:spPr>
          <a:xfrm flipV="1">
            <a:off x="5148804" y="4110755"/>
            <a:ext cx="116686" cy="8347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23CC4EB-2DC2-9547-A259-C90F4F910CAF}"/>
              </a:ext>
            </a:extLst>
          </p:cNvPr>
          <p:cNvSpPr txBox="1"/>
          <p:nvPr/>
        </p:nvSpPr>
        <p:spPr>
          <a:xfrm>
            <a:off x="6814788" y="2659387"/>
            <a:ext cx="21375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Merge your branch with the master branch for official update using a ‘pull request’</a:t>
            </a:r>
          </a:p>
        </p:txBody>
      </p:sp>
    </p:spTree>
    <p:extLst>
      <p:ext uri="{BB962C8B-B14F-4D97-AF65-F5344CB8AC3E}">
        <p14:creationId xmlns:p14="http://schemas.microsoft.com/office/powerpoint/2010/main" val="184197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5C3E9EFC-D0F6-F147-B44C-29E97341B58D}"/>
              </a:ext>
            </a:extLst>
          </p:cNvPr>
          <p:cNvSpPr txBox="1"/>
          <p:nvPr/>
        </p:nvSpPr>
        <p:spPr>
          <a:xfrm>
            <a:off x="2838203" y="724395"/>
            <a:ext cx="21659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Collaborating</a:t>
            </a:r>
          </a:p>
        </p:txBody>
      </p:sp>
      <p:pic>
        <p:nvPicPr>
          <p:cNvPr id="3" name="Picture 2" descr="Timeline&#10;&#10;Description automatically generated">
            <a:extLst>
              <a:ext uri="{FF2B5EF4-FFF2-40B4-BE49-F238E27FC236}">
                <a16:creationId xmlns:a16="http://schemas.microsoft.com/office/drawing/2014/main" id="{3EE3DCCC-80E9-604A-963A-E89F46066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42" y="1766630"/>
            <a:ext cx="8490716" cy="363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811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 for Next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Update to latest versions of R and </a:t>
            </a:r>
            <a:r>
              <a:rPr lang="en-US" dirty="0" err="1"/>
              <a:t>Rstudio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Install </a:t>
            </a:r>
            <a:r>
              <a:rPr lang="en-US" dirty="0" err="1"/>
              <a:t>Git</a:t>
            </a:r>
            <a:r>
              <a:rPr lang="en-US" dirty="0"/>
              <a:t> on the laptop you will bring to seminar.</a:t>
            </a:r>
          </a:p>
          <a:p>
            <a:endParaRPr lang="en-US" dirty="0"/>
          </a:p>
          <a:p>
            <a:r>
              <a:rPr lang="en-US" dirty="0"/>
              <a:t>Test the connection between </a:t>
            </a:r>
            <a:r>
              <a:rPr lang="en-US" dirty="0" err="1"/>
              <a:t>GitHub</a:t>
            </a:r>
            <a:r>
              <a:rPr lang="en-US" dirty="0"/>
              <a:t> and </a:t>
            </a:r>
            <a:r>
              <a:rPr lang="en-US" dirty="0" err="1"/>
              <a:t>Rstudio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See the great tutorial here:</a:t>
            </a:r>
          </a:p>
          <a:p>
            <a:pPr lvl="1"/>
            <a:r>
              <a:rPr lang="en-US" dirty="0">
                <a:hlinkClick r:id="rId2"/>
              </a:rPr>
              <a:t>https://cfss.uchicago.edu/setup/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3"/>
              </a:rPr>
              <a:t>https://rfortherestofus.com/2021/02/how-to-use-git-github-with-r/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80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Session: Intro to R</a:t>
            </a:r>
          </a:p>
        </p:txBody>
      </p:sp>
    </p:spTree>
    <p:extLst>
      <p:ext uri="{BB962C8B-B14F-4D97-AF65-F5344CB8AC3E}">
        <p14:creationId xmlns:p14="http://schemas.microsoft.com/office/powerpoint/2010/main" val="33126100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9317</TotalTime>
  <Words>668</Words>
  <Application>Microsoft Macintosh PowerPoint</Application>
  <PresentationFormat>On-screen Show (4:3)</PresentationFormat>
  <Paragraphs>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-apple-system</vt:lpstr>
      <vt:lpstr>Arial</vt:lpstr>
      <vt:lpstr>Roboto</vt:lpstr>
      <vt:lpstr>Clarity</vt:lpstr>
      <vt:lpstr>R-Seminar FALL 2026</vt:lpstr>
      <vt:lpstr>Introductions</vt:lpstr>
      <vt:lpstr>What is R-Seminar?</vt:lpstr>
      <vt:lpstr>What is R-Seminar?</vt:lpstr>
      <vt:lpstr>What is R-Seminar?</vt:lpstr>
      <vt:lpstr>Seminar Logistics</vt:lpstr>
      <vt:lpstr>Seminar Logistics</vt:lpstr>
      <vt:lpstr>Topics</vt:lpstr>
      <vt:lpstr>Guidelines for Presenters</vt:lpstr>
      <vt:lpstr>Guidelines for Participants</vt:lpstr>
      <vt:lpstr>GitHub Demo</vt:lpstr>
      <vt:lpstr>PowerPoint Presentation</vt:lpstr>
      <vt:lpstr>PowerPoint Presentation</vt:lpstr>
      <vt:lpstr>PowerPoint Presentation</vt:lpstr>
      <vt:lpstr>PowerPoint Presentation</vt:lpstr>
      <vt:lpstr>Prep for Next Week</vt:lpstr>
      <vt:lpstr>Special Session: Intro to R</vt:lpstr>
    </vt:vector>
  </TitlesOfParts>
  <Company>University of Washington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R-Seminar Fall 2013</dc:title>
  <dc:creator>Ian Breckheimer</dc:creator>
  <cp:lastModifiedBy>Sebastian Escobar Alonso</cp:lastModifiedBy>
  <cp:revision>28</cp:revision>
  <dcterms:created xsi:type="dcterms:W3CDTF">2013-10-01T20:55:03Z</dcterms:created>
  <dcterms:modified xsi:type="dcterms:W3CDTF">2026-10-07T18:18:24Z</dcterms:modified>
</cp:coreProperties>
</file>